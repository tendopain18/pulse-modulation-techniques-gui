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5143500" type="screen16x9"/>
  <p:notesSz cx="6858000" cy="9144000"/>
  <p:embeddedFontLst>
    <p:embeddedFont>
      <p:font typeface="Franklin Gothic" panose="020B0604020202020204" charset="0"/>
      <p:bold r:id="rId33"/>
    </p:embeddedFont>
    <p:embeddedFont>
      <p:font typeface="Libre Franklin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46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f419a0331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1ff419a0331_1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1ff419a0331_1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ff419a0331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ff419a0331_1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1ff419a0331_1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f419a0331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ff419a0331_1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1ff419a0331_1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ff41a0c0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1ff41a0c04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ff41a0c042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ff41a0c04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1ff41a0c042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1ff41a0c042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f41a0c04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1ff41a0c042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1ff41a0c042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f41a0c04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1ff41a0c042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1ff41a0c042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ff41a0c04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ff41a0c042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1ff41a0c042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f41a0c042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ff41a0c042_0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1ff41a0c042_0_1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f41a0c04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1ff41a0c042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1ff41a0c042_0_1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f41a0c042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ff41a0c042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1ff41a0c042_0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ff41a0c04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1ff41a0c042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1ff41a0c042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f41a0c042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1ff41a0c042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1ff41a0c042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ff41a0c042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1ff41a0c042_0_1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1ff41a0c042_0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f41a0c042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1ff41a0c042_0_1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1ff41a0c042_0_1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ff41a0c042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1ff41a0c042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1ff41a0c042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ff41a0c04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ff41a0c042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1ff41a0c042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f41a0c04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ff41a0c042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1ff41a0c042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ff41a0c04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1ff41a0c042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1ff41a0c042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ff41a0c04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1ff41a0c042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1ff41a0c042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ff41a0c04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1ff41a0c042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1ff41a0c042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ff41a0c042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1ff41a0c042_0_2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1ff41a0c042_0_2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ff41a0c042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1ff41a0c042_0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1ff41a0c042_0_2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ff41a0c04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1ff41a0c042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1ff41a0c042_0_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ff41a0c042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1ff41a0c042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1ff41a0c042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ff41a0c04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ff41a0c042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1ff41a0c042_0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ff41a0c042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1ff41a0c042_0_2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1ff41a0c042_0_2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ff41a0c042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1ff41a0c042_0_2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1ff41a0c042_0_2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4732428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  <a:defRPr sz="45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1" y="569064"/>
            <a:ext cx="4574436" cy="4574436"/>
            <a:chOff x="0" y="12289"/>
            <a:chExt cx="3550" cy="3551"/>
          </a:xfrm>
        </p:grpSpPr>
        <p:sp>
          <p:nvSpPr>
            <p:cNvPr id="58" name="Google Shape;58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61" name="Google Shape;61;p14"/>
          <p:cNvCxnSpPr/>
          <p:nvPr/>
        </p:nvCxnSpPr>
        <p:spPr>
          <a:xfrm>
            <a:off x="4732020" y="2962656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Agenda 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4772025" y="0"/>
            <a:ext cx="4371974" cy="2426702"/>
            <a:chOff x="5612972" y="1"/>
            <a:chExt cx="6615961" cy="3672246"/>
          </a:xfrm>
        </p:grpSpPr>
        <p:sp>
          <p:nvSpPr>
            <p:cNvPr id="64" name="Google Shape;64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45770" y="142179"/>
            <a:ext cx="5090810" cy="119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445769" y="1711439"/>
            <a:ext cx="5090810" cy="278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450" rIns="0" bIns="0" anchor="t" anchorCtr="0">
            <a:normAutofit/>
          </a:bodyPr>
          <a:lstStyle>
            <a:lvl1pPr marL="457200" lvl="0" indent="-342900" algn="l">
              <a:lnSpc>
                <a:spcPct val="80000"/>
              </a:lnSpc>
              <a:spcBef>
                <a:spcPts val="1700"/>
              </a:spcBef>
              <a:spcAft>
                <a:spcPts val="0"/>
              </a:spcAft>
              <a:buClr>
                <a:srgbClr val="5D7C3F"/>
              </a:buClr>
              <a:buSzPts val="1800"/>
              <a:buFont typeface="Arial"/>
              <a:buChar char="•"/>
              <a:defRPr sz="18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445770" y="1611630"/>
            <a:ext cx="1597914" cy="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bg>
      <p:bgPr>
        <a:solidFill>
          <a:schemeClr val="accent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60407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732019" y="333700"/>
            <a:ext cx="4108109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Franklin Gothic"/>
              <a:buNone/>
              <a:defRPr sz="45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732020" y="2963882"/>
            <a:ext cx="1600200" cy="754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28">
          <p15:clr>
            <a:srgbClr val="FBAE40"/>
          </p15:clr>
        </p15:guide>
        <p15:guide id="2" pos="3258">
          <p15:clr>
            <a:srgbClr val="FBAE40"/>
          </p15:clr>
        </p15:guide>
        <p15:guide id="3" pos="3420">
          <p15:clr>
            <a:srgbClr val="FBAE40"/>
          </p15:clr>
        </p15:guide>
        <p15:guide id="4" orient="horz" pos="138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ctrTitle"/>
          </p:nvPr>
        </p:nvSpPr>
        <p:spPr>
          <a:xfrm>
            <a:off x="4724876" y="322897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  <a:defRPr sz="45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0" y="-8335"/>
            <a:ext cx="4343400" cy="516017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4724876" y="3426452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D7C3F"/>
              </a:buClr>
              <a:buSzPts val="1800"/>
              <a:buNone/>
              <a:defRPr sz="18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marL="1371600" lvl="2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82" name="Google Shape;82;p17"/>
          <p:cNvCxnSpPr/>
          <p:nvPr/>
        </p:nvCxnSpPr>
        <p:spPr>
          <a:xfrm>
            <a:off x="4732020" y="2962656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2">
  <p:cSld name="Summary 2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8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8"/>
          <p:cNvGrpSpPr/>
          <p:nvPr/>
        </p:nvGrpSpPr>
        <p:grpSpPr>
          <a:xfrm rot="5400000" flipH="1">
            <a:off x="0" y="2925099"/>
            <a:ext cx="2219420" cy="2219419"/>
            <a:chOff x="0" y="12289"/>
            <a:chExt cx="3550" cy="3551"/>
          </a:xfrm>
        </p:grpSpPr>
        <p:sp>
          <p:nvSpPr>
            <p:cNvPr id="86" name="Google Shape;86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45770" y="77156"/>
            <a:ext cx="8155305" cy="1260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2743200" y="1711506"/>
            <a:ext cx="5857875" cy="277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450" rIns="0" bIns="0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80">
          <p15:clr>
            <a:srgbClr val="FBAE40"/>
          </p15:clr>
        </p15:guide>
        <p15:guide id="9" orient="horz" pos="414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ctrTitle"/>
          </p:nvPr>
        </p:nvSpPr>
        <p:spPr>
          <a:xfrm>
            <a:off x="4732428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  <a:defRPr sz="45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95" name="Google Shape;95;p19"/>
          <p:cNvGrpSpPr/>
          <p:nvPr/>
        </p:nvGrpSpPr>
        <p:grpSpPr>
          <a:xfrm>
            <a:off x="1" y="569064"/>
            <a:ext cx="4574436" cy="4574436"/>
            <a:chOff x="0" y="12289"/>
            <a:chExt cx="3550" cy="3551"/>
          </a:xfrm>
        </p:grpSpPr>
        <p:sp>
          <p:nvSpPr>
            <p:cNvPr id="96" name="Google Shape;96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99" name="Google Shape;99;p19"/>
          <p:cNvCxnSpPr/>
          <p:nvPr/>
        </p:nvCxnSpPr>
        <p:spPr>
          <a:xfrm>
            <a:off x="4732020" y="2962656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4732429" y="3412164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D7C3F"/>
              </a:buClr>
              <a:buSzPts val="1800"/>
              <a:buNone/>
              <a:defRPr sz="18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marL="1371600" lvl="2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 2">
  <p:cSld name="Title and Two Content 2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0"/>
          <p:cNvGrpSpPr/>
          <p:nvPr/>
        </p:nvGrpSpPr>
        <p:grpSpPr>
          <a:xfrm rot="10800000">
            <a:off x="6652530" y="0"/>
            <a:ext cx="2493906" cy="2493906"/>
            <a:chOff x="0" y="12289"/>
            <a:chExt cx="3550" cy="3551"/>
          </a:xfrm>
        </p:grpSpPr>
        <p:sp>
          <p:nvSpPr>
            <p:cNvPr id="103" name="Google Shape;103;p20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4" name="Google Shape;104;p20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20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445770" y="208597"/>
            <a:ext cx="7333774" cy="1120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445770" y="2007394"/>
            <a:ext cx="3368120" cy="269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2"/>
          </p:nvPr>
        </p:nvSpPr>
        <p:spPr>
          <a:xfrm>
            <a:off x="4411424" y="2007394"/>
            <a:ext cx="3368120" cy="269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0" name="Google Shape;110;p20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11" name="Google Shape;111;p20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">
  <p:cSld name="Title and Content 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1"/>
          <p:cNvGrpSpPr/>
          <p:nvPr/>
        </p:nvGrpSpPr>
        <p:grpSpPr>
          <a:xfrm>
            <a:off x="4772025" y="0"/>
            <a:ext cx="4371974" cy="2426702"/>
            <a:chOff x="5612972" y="1"/>
            <a:chExt cx="6615961" cy="3672246"/>
          </a:xfrm>
        </p:grpSpPr>
        <p:sp>
          <p:nvSpPr>
            <p:cNvPr id="114" name="Google Shape;114;p21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21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4739164" y="2624750"/>
            <a:ext cx="3704750" cy="190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21"/>
          <p:cNvCxnSpPr/>
          <p:nvPr/>
        </p:nvCxnSpPr>
        <p:spPr>
          <a:xfrm>
            <a:off x="4760595" y="4734877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452914" y="342901"/>
            <a:ext cx="3898702" cy="172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572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ranklin Gothic"/>
              <a:buAutoNum type="arabicPeriod"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ranklin Gothic"/>
              <a:buAutoNum type="alphaLcPeriod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ranklin Gothic"/>
              <a:buAutoNum type="arabicParenR"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ranklin Gothic"/>
              <a:buNone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ranklin Gothic"/>
              <a:buAutoNum type="arabicPeriod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2"/>
          </p:nvPr>
        </p:nvSpPr>
        <p:spPr>
          <a:xfrm>
            <a:off x="445770" y="2107946"/>
            <a:ext cx="3898702" cy="248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Picture">
  <p:cSld name="Title Content and Picture"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431482" y="208597"/>
            <a:ext cx="3797618" cy="17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445770" y="2459684"/>
            <a:ext cx="3783330" cy="2245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45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28" name="Google Shape;128;p22"/>
          <p:cNvCxnSpPr/>
          <p:nvPr/>
        </p:nvCxnSpPr>
        <p:spPr>
          <a:xfrm>
            <a:off x="445770" y="2248094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22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88669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Table">
  <p:cSld name="Title Content and Table"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3"/>
          <p:cNvGrpSpPr/>
          <p:nvPr/>
        </p:nvGrpSpPr>
        <p:grpSpPr>
          <a:xfrm rot="5400000" flipH="1">
            <a:off x="0" y="2925099"/>
            <a:ext cx="2219420" cy="2219419"/>
            <a:chOff x="0" y="12289"/>
            <a:chExt cx="3550" cy="3551"/>
          </a:xfrm>
        </p:grpSpPr>
        <p:sp>
          <p:nvSpPr>
            <p:cNvPr id="134" name="Google Shape;134;p23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23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6" name="Google Shape;136;p23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2746057" y="3496288"/>
            <a:ext cx="5952173" cy="103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8" name="Google Shape;138;p23"/>
          <p:cNvCxnSpPr/>
          <p:nvPr/>
        </p:nvCxnSpPr>
        <p:spPr>
          <a:xfrm>
            <a:off x="2753201" y="4734877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23"/>
          <p:cNvSpPr txBox="1">
            <a:spLocks noGrp="1"/>
          </p:cNvSpPr>
          <p:nvPr>
            <p:ph type="body" idx="1"/>
          </p:nvPr>
        </p:nvSpPr>
        <p:spPr>
          <a:xfrm>
            <a:off x="452914" y="438004"/>
            <a:ext cx="2118836" cy="299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572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2"/>
          </p:nvPr>
        </p:nvSpPr>
        <p:spPr>
          <a:xfrm>
            <a:off x="2753200" y="438004"/>
            <a:ext cx="5945029" cy="299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">
  <p:cSld name="Title and Two Content"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4"/>
          <p:cNvGrpSpPr/>
          <p:nvPr/>
        </p:nvGrpSpPr>
        <p:grpSpPr>
          <a:xfrm rot="10800000">
            <a:off x="6652530" y="0"/>
            <a:ext cx="2493906" cy="2493906"/>
            <a:chOff x="0" y="12289"/>
            <a:chExt cx="3550" cy="3551"/>
          </a:xfrm>
        </p:grpSpPr>
        <p:sp>
          <p:nvSpPr>
            <p:cNvPr id="145" name="Google Shape;145;p2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6" name="Google Shape;146;p2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>
            <a:off x="445770" y="148806"/>
            <a:ext cx="8229600" cy="118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49" name="Google Shape;149;p24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24"/>
          <p:cNvSpPr txBox="1">
            <a:spLocks noGrp="1"/>
          </p:cNvSpPr>
          <p:nvPr>
            <p:ph type="body" idx="1"/>
          </p:nvPr>
        </p:nvSpPr>
        <p:spPr>
          <a:xfrm>
            <a:off x="446642" y="2007394"/>
            <a:ext cx="4310063" cy="269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2"/>
          </p:nvPr>
        </p:nvSpPr>
        <p:spPr>
          <a:xfrm>
            <a:off x="5715000" y="2007394"/>
            <a:ext cx="2960370" cy="269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marL="914400" lvl="1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2">
  <p:cSld name="Table 2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445770" y="151800"/>
            <a:ext cx="8229600" cy="117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58" name="Google Shape;158;p25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ctrTitle"/>
          </p:nvPr>
        </p:nvSpPr>
        <p:spPr>
          <a:xfrm>
            <a:off x="445770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  <a:defRPr sz="45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61" name="Google Shape;161;p26"/>
          <p:cNvGrpSpPr/>
          <p:nvPr/>
        </p:nvGrpSpPr>
        <p:grpSpPr>
          <a:xfrm rot="10800000">
            <a:off x="4569564" y="0"/>
            <a:ext cx="4574436" cy="4574436"/>
            <a:chOff x="0" y="12289"/>
            <a:chExt cx="3550" cy="3551"/>
          </a:xfrm>
        </p:grpSpPr>
        <p:sp>
          <p:nvSpPr>
            <p:cNvPr id="162" name="Google Shape;162;p26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445770" y="3412164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D7C3F"/>
              </a:buClr>
              <a:buSzPts val="1800"/>
              <a:buNone/>
              <a:defRPr sz="18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marL="1371600" lvl="2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66" name="Google Shape;166;p26"/>
          <p:cNvCxnSpPr/>
          <p:nvPr/>
        </p:nvCxnSpPr>
        <p:spPr>
          <a:xfrm>
            <a:off x="445770" y="2962656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445770" y="1369219"/>
            <a:ext cx="7786688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45770" y="273844"/>
            <a:ext cx="780097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  <a:defRPr sz="33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80">
          <p15:clr>
            <a:srgbClr val="547EBF"/>
          </p15:clr>
        </p15:guide>
        <p15:guide id="4" orient="horz" pos="180">
          <p15:clr>
            <a:srgbClr val="547EBF"/>
          </p15:clr>
        </p15:guide>
        <p15:guide id="5" pos="5580">
          <p15:clr>
            <a:srgbClr val="547EBF"/>
          </p15:clr>
        </p15:guide>
        <p15:guide id="6" orient="horz" pos="3060">
          <p15:clr>
            <a:srgbClr val="547EBF"/>
          </p15:clr>
        </p15:guide>
        <p15:guide id="7" pos="450">
          <p15:clr>
            <a:srgbClr val="547EBF"/>
          </p15:clr>
        </p15:guide>
        <p15:guide id="8" pos="2790">
          <p15:clr>
            <a:srgbClr val="547EBF"/>
          </p15:clr>
        </p15:guide>
        <p15:guide id="9" pos="1584">
          <p15:clr>
            <a:srgbClr val="547EBF"/>
          </p15:clr>
        </p15:guide>
        <p15:guide id="10" pos="1386">
          <p15:clr>
            <a:srgbClr val="547EBF"/>
          </p15:clr>
        </p15:guide>
        <p15:guide id="11" pos="4176">
          <p15:clr>
            <a:srgbClr val="547EBF"/>
          </p15:clr>
        </p15:guide>
        <p15:guide id="12" pos="4374">
          <p15:clr>
            <a:srgbClr val="547EBF"/>
          </p15:clr>
        </p15:guide>
        <p15:guide id="13" pos="3726">
          <p15:clr>
            <a:srgbClr val="9FCC3B"/>
          </p15:clr>
        </p15:guide>
        <p15:guide id="14" pos="3906">
          <p15:clr>
            <a:srgbClr val="9FCC3B"/>
          </p15:clr>
        </p15:guide>
        <p15:guide id="15" pos="2034">
          <p15:clr>
            <a:srgbClr val="9FCC3B"/>
          </p15:clr>
        </p15:guide>
        <p15:guide id="16" pos="1854">
          <p15:clr>
            <a:srgbClr val="9FCC3B"/>
          </p15:clr>
        </p15:guide>
        <p15:guide id="17" pos="29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ctrTitle"/>
          </p:nvPr>
        </p:nvSpPr>
        <p:spPr>
          <a:xfrm>
            <a:off x="4732428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</a:pPr>
            <a:r>
              <a:rPr lang="en"/>
              <a:t>Communication Theory</a:t>
            </a:r>
            <a:br>
              <a:rPr lang="en"/>
            </a:br>
            <a:r>
              <a:rPr lang="en"/>
              <a:t>CIE 337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4732425" y="3325900"/>
            <a:ext cx="4684200" cy="12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Marwan Ahmed 202101214</a:t>
            </a:r>
            <a:endParaRPr sz="21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</a:pPr>
            <a:r>
              <a:rPr lang="en" sz="21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Amr Ashraf 202101355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</a:pPr>
            <a:endParaRPr lang="en" sz="21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ranklin Gothic"/>
              <a:buNone/>
            </a:pPr>
            <a:r>
              <a:rPr lang="en" sz="21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Amr Ahmed 202100302</a:t>
            </a:r>
            <a:endParaRPr sz="21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285750" y="4"/>
            <a:ext cx="49509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PART A: PAM MODULATION</a:t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152401" y="812725"/>
            <a:ext cx="7676474" cy="62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modulate the message signal, we first need to make the Train of pulses with the specified Ts (pulse period) and T (pulse on time)</a:t>
            </a: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1892"/>
            <a:ext cx="8839199" cy="336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/>
        </p:nvSpPr>
        <p:spPr>
          <a:xfrm>
            <a:off x="108074" y="110100"/>
            <a:ext cx="4345105" cy="72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Then: </a:t>
            </a:r>
            <a:r>
              <a:rPr lang="en" sz="1900" dirty="0">
                <a:solidFill>
                  <a:schemeClr val="dk1"/>
                </a:solidFill>
              </a:rPr>
              <a:t>we get our message signal</a:t>
            </a:r>
            <a:endParaRPr sz="1900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3100"/>
            <a:ext cx="8839200" cy="367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108075" y="110100"/>
            <a:ext cx="4919400" cy="72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Then: </a:t>
            </a:r>
            <a:r>
              <a:rPr lang="en" sz="1500" dirty="0">
                <a:solidFill>
                  <a:schemeClr val="dk1"/>
                </a:solidFill>
              </a:rPr>
              <a:t>we multiply the pulse signal with the message signal to obtain the modulated signal</a:t>
            </a:r>
            <a:endParaRPr sz="1500" dirty="0">
              <a:solidFill>
                <a:schemeClr val="dk1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900" b="1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3099"/>
            <a:ext cx="8839201" cy="3635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146"/>
            <a:ext cx="8836617" cy="4810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>
            <a:spLocks noGrp="1"/>
          </p:cNvSpPr>
          <p:nvPr>
            <p:ph type="title"/>
          </p:nvPr>
        </p:nvSpPr>
        <p:spPr>
          <a:xfrm>
            <a:off x="240700" y="-62096"/>
            <a:ext cx="49509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Demodulation</a:t>
            </a:r>
            <a:endParaRPr/>
          </a:p>
        </p:txBody>
      </p:sp>
      <p:sp>
        <p:nvSpPr>
          <p:cNvPr id="208" name="Google Shape;208;p32"/>
          <p:cNvSpPr txBox="1"/>
          <p:nvPr/>
        </p:nvSpPr>
        <p:spPr>
          <a:xfrm>
            <a:off x="108075" y="823056"/>
            <a:ext cx="8207100" cy="9024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demodulate the received signal, we pass it to a (lop pass filter) with cutoff frequency more than message bandwidth (B) and less than (Fs – B) and then apply a suitable gain</a:t>
            </a: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809625"/>
            <a:ext cx="8743627" cy="3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sp>
        <p:nvSpPr>
          <p:cNvPr id="216" name="Google Shape;216;p33"/>
          <p:cNvSpPr txBox="1"/>
          <p:nvPr/>
        </p:nvSpPr>
        <p:spPr>
          <a:xfrm>
            <a:off x="376875" y="601425"/>
            <a:ext cx="7883722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Message 1: with (Ts = 1/8) and (T = 0.25 * Ts) and (t = 0: 0.001: 1)</a:t>
            </a:r>
            <a:endParaRPr sz="1900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17" name="Google Shape;2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75" y="1457325"/>
            <a:ext cx="7659150" cy="35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pic>
        <p:nvPicPr>
          <p:cNvPr id="225" name="Google Shape;2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75" y="1388102"/>
            <a:ext cx="7749225" cy="35726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6;p33">
            <a:extLst>
              <a:ext uri="{FF2B5EF4-FFF2-40B4-BE49-F238E27FC236}">
                <a16:creationId xmlns:a16="http://schemas.microsoft.com/office/drawing/2014/main" id="{DE648A1C-CF9D-14C7-3B7F-98E001DC557F}"/>
              </a:ext>
            </a:extLst>
          </p:cNvPr>
          <p:cNvSpPr txBox="1"/>
          <p:nvPr/>
        </p:nvSpPr>
        <p:spPr>
          <a:xfrm>
            <a:off x="376875" y="601425"/>
            <a:ext cx="7883722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Message 2: with (Ts = 0.4) and (T = 0.1) and (t = 0: 0.01: 8)</a:t>
            </a:r>
            <a:endParaRPr lang="en-US" sz="2800" dirty="0">
              <a:effectLst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285750" y="0"/>
            <a:ext cx="6011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PART B: FLAT-TOP PAM MODULATION:</a:t>
            </a:r>
            <a:endParaRPr/>
          </a:p>
        </p:txBody>
      </p:sp>
      <p:sp>
        <p:nvSpPr>
          <p:cNvPr id="232" name="Google Shape;232;p35"/>
          <p:cNvSpPr txBox="1"/>
          <p:nvPr/>
        </p:nvSpPr>
        <p:spPr>
          <a:xfrm>
            <a:off x="108075" y="812725"/>
            <a:ext cx="6225600" cy="45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modulate the message signal, we get our message signal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5425"/>
            <a:ext cx="8839200" cy="3377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/>
        </p:nvSpPr>
        <p:spPr>
          <a:xfrm>
            <a:off x="198150" y="96650"/>
            <a:ext cx="2451600" cy="45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+mj-lt"/>
                <a:ea typeface="Libre Franklin"/>
                <a:cs typeface="Libre Franklin"/>
                <a:sym typeface="Libre Franklin"/>
              </a:rPr>
              <a:t>Then: </a:t>
            </a:r>
            <a:r>
              <a:rPr lang="en" sz="15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sample it</a:t>
            </a: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9350"/>
            <a:ext cx="8839199" cy="3842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/>
        </p:nvSpPr>
        <p:spPr>
          <a:xfrm>
            <a:off x="198150" y="96650"/>
            <a:ext cx="7108200" cy="72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Then: </a:t>
            </a:r>
            <a:r>
              <a:rPr lang="en" sz="1500" dirty="0">
                <a:solidFill>
                  <a:schemeClr val="dk1"/>
                </a:solidFill>
              </a:rPr>
              <a:t>we enter the sampled signal to a pulse generator which output is rectangle at each pulse</a:t>
            </a:r>
            <a:endParaRPr sz="1500" dirty="0">
              <a:solidFill>
                <a:schemeClr val="dk1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50" y="974150"/>
            <a:ext cx="8334026" cy="37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00" y="372463"/>
            <a:ext cx="7892651" cy="43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>
            <a:spLocks noGrp="1"/>
          </p:cNvSpPr>
          <p:nvPr>
            <p:ph type="title"/>
          </p:nvPr>
        </p:nvSpPr>
        <p:spPr>
          <a:xfrm>
            <a:off x="240700" y="-62096"/>
            <a:ext cx="49509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Demodulation</a:t>
            </a:r>
            <a:endParaRPr/>
          </a:p>
        </p:txBody>
      </p:sp>
      <p:sp>
        <p:nvSpPr>
          <p:cNvPr id="260" name="Google Shape;260;p39"/>
          <p:cNvSpPr txBox="1"/>
          <p:nvPr/>
        </p:nvSpPr>
        <p:spPr>
          <a:xfrm>
            <a:off x="108075" y="812725"/>
            <a:ext cx="8207100" cy="84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demodulate the received signal, we pass it to a (lop pass filter) with cutoff frequency more than message bandwidth (B) and less than (Fs – B) and then apply a suitable gain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9625"/>
            <a:ext cx="7408072" cy="3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sp>
        <p:nvSpPr>
          <p:cNvPr id="268" name="Google Shape;268;p40"/>
          <p:cNvSpPr txBox="1"/>
          <p:nvPr/>
        </p:nvSpPr>
        <p:spPr>
          <a:xfrm>
            <a:off x="376874" y="601425"/>
            <a:ext cx="7842393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Message 1: with (Ts = 1/8) and (T = 0.25 * Ts) and (t = 0: 0.001: 1)</a:t>
            </a:r>
            <a:endParaRPr sz="1900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75" y="1457325"/>
            <a:ext cx="7370899" cy="350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75" y="1388101"/>
            <a:ext cx="7118676" cy="35939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8;p40">
            <a:extLst>
              <a:ext uri="{FF2B5EF4-FFF2-40B4-BE49-F238E27FC236}">
                <a16:creationId xmlns:a16="http://schemas.microsoft.com/office/drawing/2014/main" id="{BF27479E-125F-0B60-81B6-3C3A65C1EB44}"/>
              </a:ext>
            </a:extLst>
          </p:cNvPr>
          <p:cNvSpPr txBox="1"/>
          <p:nvPr/>
        </p:nvSpPr>
        <p:spPr>
          <a:xfrm>
            <a:off x="376874" y="601425"/>
            <a:ext cx="7842393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</a:pPr>
            <a:r>
              <a:rPr lang="en-US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Message 2: with (Ts = 0.4) and (T = 0.4) and (t = 0: 0.01: 8)</a:t>
            </a:r>
            <a:endParaRPr lang="en-US" sz="2800" dirty="0">
              <a:effectLst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title"/>
          </p:nvPr>
        </p:nvSpPr>
        <p:spPr>
          <a:xfrm>
            <a:off x="299625" y="173150"/>
            <a:ext cx="5858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PART C: PWM MODULATION</a:t>
            </a:r>
            <a:endParaRPr/>
          </a:p>
        </p:txBody>
      </p:sp>
      <p:sp>
        <p:nvSpPr>
          <p:cNvPr id="284" name="Google Shape;284;p42"/>
          <p:cNvSpPr txBox="1"/>
          <p:nvPr/>
        </p:nvSpPr>
        <p:spPr>
          <a:xfrm>
            <a:off x="108075" y="812725"/>
            <a:ext cx="3793500" cy="45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first get our message signal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85" name="Google Shape;28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5425"/>
            <a:ext cx="8189899" cy="334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/>
        </p:nvSpPr>
        <p:spPr>
          <a:xfrm>
            <a:off x="223050" y="206924"/>
            <a:ext cx="4583100" cy="598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Then: </a:t>
            </a:r>
            <a:r>
              <a:rPr lang="en" sz="1600">
                <a:solidFill>
                  <a:schemeClr val="dk1"/>
                </a:solidFill>
              </a:rPr>
              <a:t>we make a train of triangle pulses</a:t>
            </a:r>
            <a:endParaRPr sz="1600">
              <a:solidFill>
                <a:schemeClr val="dk1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92" name="Google Shape;2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50" y="845675"/>
            <a:ext cx="8316000" cy="37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/>
        </p:nvSpPr>
        <p:spPr>
          <a:xfrm>
            <a:off x="285750" y="155149"/>
            <a:ext cx="7588200" cy="8109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66700" lvl="0" indent="0" algn="l" rtl="0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Then: </a:t>
            </a:r>
            <a:r>
              <a:rPr lang="en" sz="1600" dirty="0">
                <a:solidFill>
                  <a:schemeClr val="dk1"/>
                </a:solidFill>
              </a:rPr>
              <a:t>we enter the two signals to a comparator which gives True only when the message signal amplitude is higher the pulse signal amplitude</a:t>
            </a:r>
            <a:endParaRPr sz="1600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99" name="Google Shape;2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75" y="1037175"/>
            <a:ext cx="8277226" cy="37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/>
        </p:nvSpPr>
        <p:spPr>
          <a:xfrm>
            <a:off x="285750" y="155149"/>
            <a:ext cx="6606300" cy="6662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66700" lvl="0" indent="0" algn="l" rtl="0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Which gives the modulated signal as the output</a:t>
            </a: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06" name="Google Shape;30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49" y="1028175"/>
            <a:ext cx="8351973" cy="35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/>
          <p:nvPr/>
        </p:nvSpPr>
        <p:spPr>
          <a:xfrm>
            <a:off x="270251" y="537345"/>
            <a:ext cx="7957500" cy="1311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66700" lvl="0" indent="0" algn="l" rtl="0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</a:rPr>
              <a:t>To demodulate the received signal, we need to convert it to a PAM signal then we pass it to a (lop pass filter) with cutoff frequency more than message bandwidth (B) and less than (Fs – B) and then apply a suitable gain, we can do this by enter the signal to a integrate and sample device which give us the PAM version of our signal:</a:t>
            </a:r>
            <a:endParaRPr sz="1500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13" name="Google Shape;31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50" y="1905602"/>
            <a:ext cx="8362305" cy="31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6"/>
          <p:cNvSpPr txBox="1">
            <a:spLocks noGrp="1"/>
          </p:cNvSpPr>
          <p:nvPr>
            <p:ph type="title"/>
          </p:nvPr>
        </p:nvSpPr>
        <p:spPr>
          <a:xfrm>
            <a:off x="376872" y="68573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Demodulation:</a:t>
            </a: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/>
        </p:nvSpPr>
        <p:spPr>
          <a:xfrm>
            <a:off x="285750" y="155150"/>
            <a:ext cx="5629200" cy="58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Then: </a:t>
            </a:r>
            <a:r>
              <a:rPr lang="en" dirty="0">
                <a:solidFill>
                  <a:schemeClr val="dk1"/>
                </a:solidFill>
              </a:rPr>
              <a:t>we enter it to a low pass filter to generate the original signal</a:t>
            </a:r>
            <a:endParaRPr dirty="0">
              <a:solidFill>
                <a:schemeClr val="dk1"/>
              </a:solidFill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21" name="Google Shape;3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00" y="1088000"/>
            <a:ext cx="7732926" cy="33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sp>
        <p:nvSpPr>
          <p:cNvPr id="328" name="Google Shape;328;p48"/>
          <p:cNvSpPr txBox="1"/>
          <p:nvPr/>
        </p:nvSpPr>
        <p:spPr>
          <a:xfrm>
            <a:off x="376875" y="601425"/>
            <a:ext cx="8090366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</a:rPr>
              <a:t>Message 1: with (Ts = 1/8) and (A = 2) and (t = 0: 0.001: 1)</a:t>
            </a:r>
            <a:endParaRPr lang="en-US"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29" name="Google Shape;3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75" y="1388100"/>
            <a:ext cx="7627087" cy="36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pic>
        <p:nvPicPr>
          <p:cNvPr id="337" name="Google Shape;33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12" y="1388102"/>
            <a:ext cx="7379900" cy="36453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28;p48">
            <a:extLst>
              <a:ext uri="{FF2B5EF4-FFF2-40B4-BE49-F238E27FC236}">
                <a16:creationId xmlns:a16="http://schemas.microsoft.com/office/drawing/2014/main" id="{33AF8981-4E02-187D-D46D-17D6BC24AAAA}"/>
              </a:ext>
            </a:extLst>
          </p:cNvPr>
          <p:cNvSpPr txBox="1"/>
          <p:nvPr/>
        </p:nvSpPr>
        <p:spPr>
          <a:xfrm>
            <a:off x="376875" y="601425"/>
            <a:ext cx="8090366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</a:rPr>
              <a:t>Message 2: with (Ts = 0.4) and (A = 2) and (t = 0: 0.01: 8)</a:t>
            </a:r>
            <a:endParaRPr lang="en-US"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/>
        </p:nvSpPr>
        <p:spPr>
          <a:xfrm>
            <a:off x="285750" y="860325"/>
            <a:ext cx="7642200" cy="911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3429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We do the same steps as PWM but after that we enter the signal to a pulse generator which only generate fixed width pulses at the end of the widths of the PWM</a:t>
            </a:r>
            <a:endParaRPr sz="1600" dirty="0">
              <a:solidFill>
                <a:schemeClr val="dk1"/>
              </a:solidFill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228600" marR="2667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292100" lvl="0" indent="0" algn="l" rtl="0">
              <a:lnSpc>
                <a:spcPct val="106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4" name="Google Shape;344;p50"/>
          <p:cNvSpPr txBox="1">
            <a:spLocks noGrp="1"/>
          </p:cNvSpPr>
          <p:nvPr>
            <p:ph type="title"/>
          </p:nvPr>
        </p:nvSpPr>
        <p:spPr>
          <a:xfrm>
            <a:off x="285750" y="58975"/>
            <a:ext cx="59385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PART D: PPM MODULATION</a:t>
            </a:r>
            <a:endParaRPr/>
          </a:p>
        </p:txBody>
      </p:sp>
      <p:pic>
        <p:nvPicPr>
          <p:cNvPr id="345" name="Google Shape;34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979675"/>
            <a:ext cx="8343026" cy="27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88" y="191175"/>
            <a:ext cx="8129274" cy="42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>
            <a:spLocks noGrp="1"/>
          </p:cNvSpPr>
          <p:nvPr>
            <p:ph type="title"/>
          </p:nvPr>
        </p:nvSpPr>
        <p:spPr>
          <a:xfrm>
            <a:off x="490650" y="590425"/>
            <a:ext cx="29433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Demodulation:</a:t>
            </a:r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490650" y="1896050"/>
            <a:ext cx="80139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92100" lvl="0" indent="0" algn="l" rtl="0">
              <a:lnSpc>
                <a:spcPct val="107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convert the signal back to the PWM signal using SR flip-flop (we enter Pulse generator signal to the R input, and enter a reference pulse signal to the S input), due to the set and reset signals applied to the flip-flop, we get a PWM signal at its output. The PWM signal can be demodulated using the PWM demodulator as explained above in the report.</a:t>
            </a:r>
            <a:endParaRPr sz="19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 dirty="0"/>
              <a:t>Test cases:</a:t>
            </a:r>
            <a:endParaRPr dirty="0"/>
          </a:p>
        </p:txBody>
      </p:sp>
      <p:sp>
        <p:nvSpPr>
          <p:cNvPr id="365" name="Google Shape;365;p53"/>
          <p:cNvSpPr txBox="1"/>
          <p:nvPr/>
        </p:nvSpPr>
        <p:spPr>
          <a:xfrm>
            <a:off x="376875" y="601425"/>
            <a:ext cx="7868223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Message 1: with (Ts = 1/8) and (T = 0.1*Ts) and (A = 2) and (t = 0: 0.001: 1)</a:t>
            </a:r>
            <a:endParaRPr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66" name="Google Shape;3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71" y="1495318"/>
            <a:ext cx="7868223" cy="35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>
            <a:spLocks noGrp="1"/>
          </p:cNvSpPr>
          <p:nvPr>
            <p:ph type="title"/>
          </p:nvPr>
        </p:nvSpPr>
        <p:spPr>
          <a:xfrm>
            <a:off x="376872" y="22948"/>
            <a:ext cx="28521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Franklin Gothic"/>
              <a:buNone/>
            </a:pPr>
            <a:r>
              <a:rPr lang="en"/>
              <a:t>Test cases:</a:t>
            </a:r>
            <a:endParaRPr/>
          </a:p>
        </p:txBody>
      </p:sp>
      <p:pic>
        <p:nvPicPr>
          <p:cNvPr id="374" name="Google Shape;37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8" y="1388102"/>
            <a:ext cx="8007708" cy="375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65;p53">
            <a:extLst>
              <a:ext uri="{FF2B5EF4-FFF2-40B4-BE49-F238E27FC236}">
                <a16:creationId xmlns:a16="http://schemas.microsoft.com/office/drawing/2014/main" id="{2B2DD09F-C0DA-EAC8-651F-BE6DB4E8A7D7}"/>
              </a:ext>
            </a:extLst>
          </p:cNvPr>
          <p:cNvSpPr txBox="1"/>
          <p:nvPr/>
        </p:nvSpPr>
        <p:spPr>
          <a:xfrm>
            <a:off x="376875" y="601425"/>
            <a:ext cx="7868223" cy="7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Message 2: with (Ts = 0.4) and (T = 0.05) and (A = 2) and (t = 0: 0.01: 8)</a:t>
            </a:r>
            <a:endParaRPr sz="17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9EF2B-FE80-C004-BE4C-267F81716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835067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724</Words>
  <Application>Microsoft Office PowerPoint</Application>
  <PresentationFormat>On-screen Show (16:9)</PresentationFormat>
  <Paragraphs>95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Franklin Gothic</vt:lpstr>
      <vt:lpstr>Arial</vt:lpstr>
      <vt:lpstr>Libre Franklin</vt:lpstr>
      <vt:lpstr>Simple Light</vt:lpstr>
      <vt:lpstr>Custom</vt:lpstr>
      <vt:lpstr>Communication Theory CIE 337</vt:lpstr>
      <vt:lpstr>PART A: PAM MODULATION</vt:lpstr>
      <vt:lpstr>PowerPoint Presentation</vt:lpstr>
      <vt:lpstr>PowerPoint Presentation</vt:lpstr>
      <vt:lpstr>PowerPoint Presentation</vt:lpstr>
      <vt:lpstr>Demodulation</vt:lpstr>
      <vt:lpstr>Test cases:</vt:lpstr>
      <vt:lpstr>Test cases:</vt:lpstr>
      <vt:lpstr>PART B: FLAT-TOP PAM MODULATION:</vt:lpstr>
      <vt:lpstr>PowerPoint Presentation</vt:lpstr>
      <vt:lpstr>PowerPoint Presentation</vt:lpstr>
      <vt:lpstr>PowerPoint Presentation</vt:lpstr>
      <vt:lpstr>Demodulation</vt:lpstr>
      <vt:lpstr>Test cases:</vt:lpstr>
      <vt:lpstr>Test cases:</vt:lpstr>
      <vt:lpstr>PART C: PWM MODULATION</vt:lpstr>
      <vt:lpstr>PowerPoint Presentation</vt:lpstr>
      <vt:lpstr>PowerPoint Presentation</vt:lpstr>
      <vt:lpstr>PowerPoint Presentation</vt:lpstr>
      <vt:lpstr>Demodulation:</vt:lpstr>
      <vt:lpstr>PowerPoint Presentation</vt:lpstr>
      <vt:lpstr>Test cases:</vt:lpstr>
      <vt:lpstr>Test cases:</vt:lpstr>
      <vt:lpstr>PART D: PPM MODULATION</vt:lpstr>
      <vt:lpstr>PowerPoint Presentation</vt:lpstr>
      <vt:lpstr>Demodulation:</vt:lpstr>
      <vt:lpstr>Test cases:</vt:lpstr>
      <vt:lpstr>Test cases: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Theory CIE 337</dc:title>
  <cp:lastModifiedBy>amr ashraf</cp:lastModifiedBy>
  <cp:revision>2</cp:revision>
  <dcterms:modified xsi:type="dcterms:W3CDTF">2024-05-02T17:29:35Z</dcterms:modified>
</cp:coreProperties>
</file>